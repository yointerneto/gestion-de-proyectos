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C4C3F-FADA-4F09-A87D-C00CD3373F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D1E583-FAD9-4D40-8BC2-19A4FB172239}">
      <dgm:prSet/>
      <dgm:spPr/>
      <dgm:t>
        <a:bodyPr/>
        <a:lstStyle/>
        <a:p>
          <a:r>
            <a:rPr lang="es-ES"/>
            <a:t>CPTP: es el valor planeado hasta el 7 de mayo, que se mantiene en 26.732,50€</a:t>
          </a:r>
          <a:endParaRPr lang="en-US"/>
        </a:p>
      </dgm:t>
    </dgm:pt>
    <dgm:pt modelId="{30895CD0-AC8D-4212-A2B7-6B295668E433}" type="parTrans" cxnId="{B5BEDA4A-5D00-4FC4-93FF-3EF3593143E2}">
      <dgm:prSet/>
      <dgm:spPr/>
      <dgm:t>
        <a:bodyPr/>
        <a:lstStyle/>
        <a:p>
          <a:endParaRPr lang="en-US"/>
        </a:p>
      </dgm:t>
    </dgm:pt>
    <dgm:pt modelId="{607DA0BA-8928-4B16-9513-5BBF1917C3D6}" type="sibTrans" cxnId="{B5BEDA4A-5D00-4FC4-93FF-3EF3593143E2}">
      <dgm:prSet/>
      <dgm:spPr/>
      <dgm:t>
        <a:bodyPr/>
        <a:lstStyle/>
        <a:p>
          <a:endParaRPr lang="en-US"/>
        </a:p>
      </dgm:t>
    </dgm:pt>
    <dgm:pt modelId="{F1940725-75D6-46F6-A6A0-11F7E2C333D3}">
      <dgm:prSet/>
      <dgm:spPr/>
      <dgm:t>
        <a:bodyPr/>
        <a:lstStyle/>
        <a:p>
          <a:r>
            <a:rPr lang="es-ES"/>
            <a:t>CPTR: es el valor acumulado hasta el 7 de mayo, que es 16.839,00€</a:t>
          </a:r>
          <a:endParaRPr lang="en-US"/>
        </a:p>
      </dgm:t>
    </dgm:pt>
    <dgm:pt modelId="{84C469D2-6EC7-4FB0-A824-9F069DAD7B16}" type="parTrans" cxnId="{C676C425-BCCE-4915-AD30-B2D74239BA8D}">
      <dgm:prSet/>
      <dgm:spPr/>
      <dgm:t>
        <a:bodyPr/>
        <a:lstStyle/>
        <a:p>
          <a:endParaRPr lang="en-US"/>
        </a:p>
      </dgm:t>
    </dgm:pt>
    <dgm:pt modelId="{29A9A51C-48CF-4F63-94A5-E41EAED2D6A5}" type="sibTrans" cxnId="{C676C425-BCCE-4915-AD30-B2D74239BA8D}">
      <dgm:prSet/>
      <dgm:spPr/>
      <dgm:t>
        <a:bodyPr/>
        <a:lstStyle/>
        <a:p>
          <a:endParaRPr lang="en-US"/>
        </a:p>
      </dgm:t>
    </dgm:pt>
    <dgm:pt modelId="{FC39F434-90B8-419D-8B6A-886E6FA5326B}">
      <dgm:prSet/>
      <dgm:spPr/>
      <dgm:t>
        <a:bodyPr/>
        <a:lstStyle/>
        <a:p>
          <a:r>
            <a:rPr lang="es-ES"/>
            <a:t>CRTR: es el valor real del acumulado hasta el 7 de mayo, que es el mismo que el anterior.</a:t>
          </a:r>
          <a:endParaRPr lang="en-US"/>
        </a:p>
      </dgm:t>
    </dgm:pt>
    <dgm:pt modelId="{E7B94227-5666-4D0E-B57C-61085BC9A3C6}" type="parTrans" cxnId="{62AA4FF2-ADD1-441D-A0D0-56534A321C31}">
      <dgm:prSet/>
      <dgm:spPr/>
      <dgm:t>
        <a:bodyPr/>
        <a:lstStyle/>
        <a:p>
          <a:endParaRPr lang="en-US"/>
        </a:p>
      </dgm:t>
    </dgm:pt>
    <dgm:pt modelId="{1EA033E0-170C-47A3-9565-0EF0EFE5F6F1}" type="sibTrans" cxnId="{62AA4FF2-ADD1-441D-A0D0-56534A321C31}">
      <dgm:prSet/>
      <dgm:spPr/>
      <dgm:t>
        <a:bodyPr/>
        <a:lstStyle/>
        <a:p>
          <a:endParaRPr lang="en-US"/>
        </a:p>
      </dgm:t>
    </dgm:pt>
    <dgm:pt modelId="{029F8924-CB3D-4F8C-92C6-5ACC207C7D5A}" type="pres">
      <dgm:prSet presAssocID="{493C4C3F-FADA-4F09-A87D-C00CD3373F14}" presName="linear" presStyleCnt="0">
        <dgm:presLayoutVars>
          <dgm:animLvl val="lvl"/>
          <dgm:resizeHandles val="exact"/>
        </dgm:presLayoutVars>
      </dgm:prSet>
      <dgm:spPr/>
    </dgm:pt>
    <dgm:pt modelId="{D4AAB760-C5E8-4101-9C17-861C9BE41D09}" type="pres">
      <dgm:prSet presAssocID="{74D1E583-FAD9-4D40-8BC2-19A4FB17223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68DBE87-5060-4A0E-858C-222C193F4815}" type="pres">
      <dgm:prSet presAssocID="{607DA0BA-8928-4B16-9513-5BBF1917C3D6}" presName="spacer" presStyleCnt="0"/>
      <dgm:spPr/>
    </dgm:pt>
    <dgm:pt modelId="{645E8E26-7227-4E9C-95CE-160D081C6755}" type="pres">
      <dgm:prSet presAssocID="{F1940725-75D6-46F6-A6A0-11F7E2C333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3F82D9-509A-401C-B690-52F7BBDDD694}" type="pres">
      <dgm:prSet presAssocID="{29A9A51C-48CF-4F63-94A5-E41EAED2D6A5}" presName="spacer" presStyleCnt="0"/>
      <dgm:spPr/>
    </dgm:pt>
    <dgm:pt modelId="{C1942747-7DAF-4183-A95F-4DB11F58A360}" type="pres">
      <dgm:prSet presAssocID="{FC39F434-90B8-419D-8B6A-886E6FA532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676C425-BCCE-4915-AD30-B2D74239BA8D}" srcId="{493C4C3F-FADA-4F09-A87D-C00CD3373F14}" destId="{F1940725-75D6-46F6-A6A0-11F7E2C333D3}" srcOrd="1" destOrd="0" parTransId="{84C469D2-6EC7-4FB0-A824-9F069DAD7B16}" sibTransId="{29A9A51C-48CF-4F63-94A5-E41EAED2D6A5}"/>
    <dgm:cxn modelId="{B5BEDA4A-5D00-4FC4-93FF-3EF3593143E2}" srcId="{493C4C3F-FADA-4F09-A87D-C00CD3373F14}" destId="{74D1E583-FAD9-4D40-8BC2-19A4FB172239}" srcOrd="0" destOrd="0" parTransId="{30895CD0-AC8D-4212-A2B7-6B295668E433}" sibTransId="{607DA0BA-8928-4B16-9513-5BBF1917C3D6}"/>
    <dgm:cxn modelId="{E3CFB86D-B8B8-4FE5-B551-76DDA89BDA7A}" type="presOf" srcId="{74D1E583-FAD9-4D40-8BC2-19A4FB172239}" destId="{D4AAB760-C5E8-4101-9C17-861C9BE41D09}" srcOrd="0" destOrd="0" presId="urn:microsoft.com/office/officeart/2005/8/layout/vList2"/>
    <dgm:cxn modelId="{FCFF6B8D-FE62-4141-9CAC-CD846B0900E9}" type="presOf" srcId="{FC39F434-90B8-419D-8B6A-886E6FA5326B}" destId="{C1942747-7DAF-4183-A95F-4DB11F58A360}" srcOrd="0" destOrd="0" presId="urn:microsoft.com/office/officeart/2005/8/layout/vList2"/>
    <dgm:cxn modelId="{191B65C9-CFA0-478F-9B6C-01CE77DA81DF}" type="presOf" srcId="{F1940725-75D6-46F6-A6A0-11F7E2C333D3}" destId="{645E8E26-7227-4E9C-95CE-160D081C6755}" srcOrd="0" destOrd="0" presId="urn:microsoft.com/office/officeart/2005/8/layout/vList2"/>
    <dgm:cxn modelId="{38BD92EB-22A8-43E9-ABBA-107114C4496B}" type="presOf" srcId="{493C4C3F-FADA-4F09-A87D-C00CD3373F14}" destId="{029F8924-CB3D-4F8C-92C6-5ACC207C7D5A}" srcOrd="0" destOrd="0" presId="urn:microsoft.com/office/officeart/2005/8/layout/vList2"/>
    <dgm:cxn modelId="{62AA4FF2-ADD1-441D-A0D0-56534A321C31}" srcId="{493C4C3F-FADA-4F09-A87D-C00CD3373F14}" destId="{FC39F434-90B8-419D-8B6A-886E6FA5326B}" srcOrd="2" destOrd="0" parTransId="{E7B94227-5666-4D0E-B57C-61085BC9A3C6}" sibTransId="{1EA033E0-170C-47A3-9565-0EF0EFE5F6F1}"/>
    <dgm:cxn modelId="{4D351968-66AF-42D0-9342-4E3599A959DD}" type="presParOf" srcId="{029F8924-CB3D-4F8C-92C6-5ACC207C7D5A}" destId="{D4AAB760-C5E8-4101-9C17-861C9BE41D09}" srcOrd="0" destOrd="0" presId="urn:microsoft.com/office/officeart/2005/8/layout/vList2"/>
    <dgm:cxn modelId="{66174350-106B-4B8E-9740-36412D03DF5F}" type="presParOf" srcId="{029F8924-CB3D-4F8C-92C6-5ACC207C7D5A}" destId="{568DBE87-5060-4A0E-858C-222C193F4815}" srcOrd="1" destOrd="0" presId="urn:microsoft.com/office/officeart/2005/8/layout/vList2"/>
    <dgm:cxn modelId="{5DF955CF-6E1A-4D3D-9009-8FA9C4929A5D}" type="presParOf" srcId="{029F8924-CB3D-4F8C-92C6-5ACC207C7D5A}" destId="{645E8E26-7227-4E9C-95CE-160D081C6755}" srcOrd="2" destOrd="0" presId="urn:microsoft.com/office/officeart/2005/8/layout/vList2"/>
    <dgm:cxn modelId="{0D731CE6-6148-4B52-91FF-0A05F664C4C1}" type="presParOf" srcId="{029F8924-CB3D-4F8C-92C6-5ACC207C7D5A}" destId="{063F82D9-509A-401C-B690-52F7BBDDD694}" srcOrd="3" destOrd="0" presId="urn:microsoft.com/office/officeart/2005/8/layout/vList2"/>
    <dgm:cxn modelId="{59EC9F83-E5B1-4A9E-93E0-A1D0806DF4AA}" type="presParOf" srcId="{029F8924-CB3D-4F8C-92C6-5ACC207C7D5A}" destId="{C1942747-7DAF-4183-A95F-4DB11F58A36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AB760-C5E8-4101-9C17-861C9BE41D09}">
      <dsp:nvSpPr>
        <dsp:cNvPr id="0" name=""/>
        <dsp:cNvSpPr/>
      </dsp:nvSpPr>
      <dsp:spPr>
        <a:xfrm>
          <a:off x="0" y="45961"/>
          <a:ext cx="6588691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CPTP: es el valor planeado hasta el 7 de mayo, que se mantiene en 26.732,50€</a:t>
          </a:r>
          <a:endParaRPr lang="en-US" sz="3400" kern="1200"/>
        </a:p>
      </dsp:txBody>
      <dsp:txXfrm>
        <a:off x="91269" y="137230"/>
        <a:ext cx="6406153" cy="1687122"/>
      </dsp:txXfrm>
    </dsp:sp>
    <dsp:sp modelId="{645E8E26-7227-4E9C-95CE-160D081C6755}">
      <dsp:nvSpPr>
        <dsp:cNvPr id="0" name=""/>
        <dsp:cNvSpPr/>
      </dsp:nvSpPr>
      <dsp:spPr>
        <a:xfrm>
          <a:off x="0" y="2013541"/>
          <a:ext cx="6588691" cy="186966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CPTR: es el valor acumulado hasta el 7 de mayo, que es 16.839,00€</a:t>
          </a:r>
          <a:endParaRPr lang="en-US" sz="3400" kern="1200"/>
        </a:p>
      </dsp:txBody>
      <dsp:txXfrm>
        <a:off x="91269" y="2104810"/>
        <a:ext cx="6406153" cy="1687122"/>
      </dsp:txXfrm>
    </dsp:sp>
    <dsp:sp modelId="{C1942747-7DAF-4183-A95F-4DB11F58A360}">
      <dsp:nvSpPr>
        <dsp:cNvPr id="0" name=""/>
        <dsp:cNvSpPr/>
      </dsp:nvSpPr>
      <dsp:spPr>
        <a:xfrm>
          <a:off x="0" y="3981121"/>
          <a:ext cx="6588691" cy="18696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CRTR: es el valor real del acumulado hasta el 7 de mayo, que es el mismo que el anterior.</a:t>
          </a:r>
          <a:endParaRPr lang="en-US" sz="3400" kern="1200"/>
        </a:p>
      </dsp:txBody>
      <dsp:txXfrm>
        <a:off x="91269" y="4072390"/>
        <a:ext cx="6406153" cy="1687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E8E3C-081E-4EF5-A930-F61923B49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180702-F8E1-412C-9232-26CF8B9BD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FA8265-A768-4499-B8B6-A2EF001B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C9B42-83F8-4C95-A829-CB815397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59CB8F-BB5C-4467-870B-D0D205B5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9594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B1C1F-AD13-42F6-ADE7-279640B4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407373-1C28-4808-AD16-A3677A2F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1D8D3-5D6C-4378-8CB7-E2CC5DEC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8D955B-DCC9-4E34-9230-3D6A7AF0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F13B28-85CD-4819-8E75-EAF36E4E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110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462E0-5D4B-434E-BA54-8EB46ED9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C56365-585E-439D-BC4E-0D47B2505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51162-61B4-4841-8EA0-2863ECEA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51C40A-70CD-4162-A6A5-A7CD7F8C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7016A2-C69B-4FBC-8D16-0C6CD799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76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F376A-4ABF-4271-96C5-68145326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22A5CC-35B3-474D-8C9A-587704B2B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85D9BF-27A1-4DF7-8DD2-DBA18D2ED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85EA1D-0280-4F09-9B13-B790B7C0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8FEEC1-B046-497C-95D4-59078B28E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2FBB22-2976-4428-8A4A-4FB8413F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72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0B216-96F5-4053-948A-7C5C428C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4F7AB6-894F-4B70-BF1F-4AD890F72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5EC539-7996-42E1-8917-67BE93119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98CB29-4390-441C-9BCD-BF5E4682B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DDA1A9-7D6B-4ABE-946B-00CD9C95E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1467E8-6A9D-4720-8CEB-8C94AECD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05BFF-9D35-448B-8E54-BF7713FD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5666191-FAA8-4C3A-940D-E782A6E0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52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04550-C341-4232-AD61-1D24462AA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8E763E-27D6-4F00-9629-980DC7D5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796108-D801-41C1-A1E6-BCF1DE58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7ECA69-4A54-4935-8DF3-79671FFD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27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100467-09B8-4876-8C59-A16C3AEB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A1CC92-E085-425C-8E6D-D1174A72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6BC652-4F60-4482-BB9A-8B1C6593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354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42C31-161B-402A-8C2B-0C44EF7A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D9A895-41D0-41F5-8DB3-6FF5948B8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018810-8D1C-436B-84F5-ADB8457C7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6BB7D-B38C-40C0-B783-CF1CCDD7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09E65C-C071-4643-8E15-A759D0F77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F6CDAA-6554-4E74-BB57-C5035DD6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245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E4A7A-69B4-411F-B6C8-7B93DA35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D705BD-D5E5-4EF6-AC9A-ABEB00BF2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93F9D5-CA78-4DEE-B86C-5D835F18D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97C8B-2B13-44A6-9BA9-74BD4B48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894676-DC71-4C9E-A5DF-B022E173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5D379F-0195-4754-8575-0231720D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109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5A8D5-0A6A-426A-BAA0-A37AA2822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B71EFE-4B43-4A08-A605-237B509C2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71E3FE-89A4-4310-B6EE-ACFC74A3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972E87-4FFF-446C-8DDA-A1FF6E98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D7C8F-9829-494D-A597-54B8B0CD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176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0CBF4E-A26A-405C-B52C-8B6B7B419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682086-1231-44AE-813F-D0CEFA873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B4FB6D-0CDD-42C4-971F-435D1D7D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D6F078-C6F3-4234-9A93-E8B542A0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4C1D1A-A44A-4FB4-B7D0-B1D1A22A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721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6ED28B-1A50-4C3D-A03F-2F2352EA1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1BD04-BE7E-4E7E-8DD8-0EE2DBAE4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622195-6FBD-4910-B9D4-6E1FAB3A9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85B20-D002-45CB-9745-580F4A258211}" type="datetimeFigureOut">
              <a:rPr lang="es-ES" smtClean="0"/>
              <a:t>20/04/2020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79E851-EAED-497F-9FA3-BC01FF452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4CBFED-98C3-4590-809C-9CE76F62C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7232F-195C-4FA1-8983-05342DA390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59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13BA44-B8CD-4E97-8EEE-894EF228E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s-ES" sz="5800"/>
              <a:t>SEGUIMIENTO Y CONTROL DEL PROYECTO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125D36-551D-4211-846C-48BC3F2B1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accent1">
                    <a:lumMod val="60000"/>
                    <a:lumOff val="40000"/>
                  </a:schemeClr>
                </a:solidFill>
              </a:rPr>
              <a:t>Javier Martín Gómez</a:t>
            </a:r>
          </a:p>
          <a:p>
            <a:r>
              <a:rPr lang="es-ES">
                <a:solidFill>
                  <a:schemeClr val="accent1">
                    <a:lumMod val="60000"/>
                    <a:lumOff val="40000"/>
                  </a:schemeClr>
                </a:solidFill>
              </a:rPr>
              <a:t>Mario Adán Herrero</a:t>
            </a:r>
          </a:p>
          <a:p>
            <a:r>
              <a:rPr lang="es-ES">
                <a:solidFill>
                  <a:schemeClr val="accent1">
                    <a:lumMod val="60000"/>
                    <a:lumOff val="40000"/>
                  </a:schemeClr>
                </a:solidFill>
              </a:rPr>
              <a:t>Alberto González Martínez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039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A57295-2710-4920-B99A-4D1FA03A6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67929-4D33-4306-9E2F-67C49CDDB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400" y="465745"/>
            <a:ext cx="11125200" cy="5639435"/>
          </a:xfrm>
          <a:prstGeom prst="rect">
            <a:avLst/>
          </a:prstGeom>
          <a:solidFill>
            <a:schemeClr val="tx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04EDBA-F068-49C9-AB37-C732AC5D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027"/>
            <a:ext cx="3494362" cy="4782873"/>
          </a:xfrm>
        </p:spPr>
        <p:txBody>
          <a:bodyPr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CURVAS DE CONTROL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B8FD5A-66F0-4CCD-885F-0A43DC5C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2" y="894027"/>
            <a:ext cx="6377768" cy="47828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</a:rPr>
              <a:t>Hemos considerado como fecha de referencia, el 7 de mayo de 2020. Consideramos que el proyecto se ha realizado al 100% en todo el mes de marzo y al 80% en abril. La duración se mantiene entre 6 meses y 1 año y la fecha inicial el 10 de febrero de 2020.</a:t>
            </a:r>
          </a:p>
          <a:p>
            <a:pPr marL="0" indent="0">
              <a:buNone/>
            </a:pPr>
            <a:endParaRPr lang="es-ES" sz="2400" dirty="0">
              <a:solidFill>
                <a:schemeClr val="bg1"/>
              </a:solidFill>
            </a:endParaRPr>
          </a:p>
          <a:p>
            <a:endParaRPr lang="es-E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74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2A86F5-034A-44EA-9A6D-4448C5EA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CURVAS DE CONTROL</a:t>
            </a:r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761DF460-9A52-4BD2-B158-FDE6089AD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766072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038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D32C7E6-EF6A-4C28-AD57-3099E01781F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5" b="1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54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7A57295-2710-4920-B99A-4D1FA03A6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067929-4D33-4306-9E2F-67C49CDDB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400" y="465745"/>
            <a:ext cx="11125200" cy="5639435"/>
          </a:xfrm>
          <a:prstGeom prst="rect">
            <a:avLst/>
          </a:prstGeom>
          <a:solidFill>
            <a:schemeClr val="tx1">
              <a:alpha val="9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58C2F4-9139-4299-952B-22B19B67A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027"/>
            <a:ext cx="3494362" cy="4782873"/>
          </a:xfrm>
        </p:spPr>
        <p:txBody>
          <a:bodyPr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VARIACIÓN DE COSTE Y DE PROGRAMA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7650C19-1BD2-44AC-B5C4-009AC84E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2" y="894027"/>
            <a:ext cx="6377768" cy="4782873"/>
          </a:xfrm>
        </p:spPr>
        <p:txBody>
          <a:bodyPr anchor="ctr">
            <a:normAutofit/>
          </a:bodyPr>
          <a:lstStyle/>
          <a:p>
            <a:r>
              <a:rPr lang="es-ES" sz="2400">
                <a:solidFill>
                  <a:schemeClr val="bg1"/>
                </a:solidFill>
              </a:rPr>
              <a:t>Variación del coste (VC): Se puede comprobar que el VC es 00,0€, ya que CPTR es igual que CRTR</a:t>
            </a:r>
          </a:p>
          <a:p>
            <a:r>
              <a:rPr lang="es-ES" sz="2400">
                <a:solidFill>
                  <a:schemeClr val="bg1"/>
                </a:solidFill>
              </a:rPr>
              <a:t>Variación del Programa (VP): Se puede ver que el VP es -9.8983,50€, ya que no se gastado todo el dinero que se pensaba al no haberse realizado todo el trabajo planeado.</a:t>
            </a:r>
          </a:p>
          <a:p>
            <a:endParaRPr lang="es-E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17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5F45D6-D1AE-42A7-8241-79F6B3CF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GRÁFICO DE VALORES</a:t>
            </a:r>
          </a:p>
        </p:txBody>
      </p:sp>
      <p:sp>
        <p:nvSpPr>
          <p:cNvPr id="50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0259735-93DE-4375-97A9-6E5E595DA85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" r="18661" b="1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33531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5D61A1-8484-4749-8AD0-A3455E075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FA8D7D-D1B4-4DD5-881E-4D2421C5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GANT DE SEGUIMIENTO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1447903E-2B66-479D-959B-F2EBB2CC9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28801"/>
            <a:ext cx="10515600" cy="436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3E5694-10AA-4459-8354-D1B30037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D3B1B4B-E971-4106-A20D-CD78CC7716E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11336"/>
            <a:ext cx="105156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042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</Words>
  <Application>Microsoft Office PowerPoint</Application>
  <PresentationFormat>Panorámica</PresentationFormat>
  <Paragraphs>15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SEGUIMIENTO Y CONTROL DEL PROYECTO</vt:lpstr>
      <vt:lpstr>CURVAS DE CONTROL</vt:lpstr>
      <vt:lpstr>CURVAS DE CONTROL</vt:lpstr>
      <vt:lpstr>Presentación de PowerPoint</vt:lpstr>
      <vt:lpstr>VARIACIÓN DE COSTE Y DE PROGRAMA</vt:lpstr>
      <vt:lpstr>GRÁFICO DE VALORES</vt:lpstr>
      <vt:lpstr>GANT DE SEGUIMIENTO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SEGUIMIENTO Y CONTROL DEL PROYECTO</dc:title>
  <dc:creator>Javier Martin</dc:creator>
  <cp:lastModifiedBy>Javier Martin</cp:lastModifiedBy>
  <cp:revision>2</cp:revision>
  <dcterms:created xsi:type="dcterms:W3CDTF">2020-04-20T09:43:58Z</dcterms:created>
  <dcterms:modified xsi:type="dcterms:W3CDTF">2020-04-20T11:14:04Z</dcterms:modified>
</cp:coreProperties>
</file>