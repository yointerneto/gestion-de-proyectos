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8" r:id="rId2"/>
    <p:sldId id="256" r:id="rId3"/>
    <p:sldId id="257" r:id="rId4"/>
    <p:sldId id="258" r:id="rId5"/>
    <p:sldId id="259" r:id="rId6"/>
    <p:sldId id="261" r:id="rId7"/>
    <p:sldId id="260" r:id="rId8"/>
    <p:sldId id="262" r:id="rId9"/>
    <p:sldId id="2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C4C3F-FADA-4F09-A87D-C00CD3373F1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4D1E583-FAD9-4D40-8BC2-19A4FB172239}">
      <dgm:prSet/>
      <dgm:spPr/>
      <dgm:t>
        <a:bodyPr/>
        <a:lstStyle/>
        <a:p>
          <a:r>
            <a:rPr lang="es-ES"/>
            <a:t>CPTP: es el valor planeado hasta el 7 de mayo, que se mantiene en 26.732,50€</a:t>
          </a:r>
          <a:endParaRPr lang="en-US"/>
        </a:p>
      </dgm:t>
    </dgm:pt>
    <dgm:pt modelId="{30895CD0-AC8D-4212-A2B7-6B295668E433}" type="parTrans" cxnId="{B5BEDA4A-5D00-4FC4-93FF-3EF3593143E2}">
      <dgm:prSet/>
      <dgm:spPr/>
      <dgm:t>
        <a:bodyPr/>
        <a:lstStyle/>
        <a:p>
          <a:endParaRPr lang="en-US"/>
        </a:p>
      </dgm:t>
    </dgm:pt>
    <dgm:pt modelId="{607DA0BA-8928-4B16-9513-5BBF1917C3D6}" type="sibTrans" cxnId="{B5BEDA4A-5D00-4FC4-93FF-3EF3593143E2}">
      <dgm:prSet/>
      <dgm:spPr/>
      <dgm:t>
        <a:bodyPr/>
        <a:lstStyle/>
        <a:p>
          <a:endParaRPr lang="en-US"/>
        </a:p>
      </dgm:t>
    </dgm:pt>
    <dgm:pt modelId="{F1940725-75D6-46F6-A6A0-11F7E2C333D3}">
      <dgm:prSet/>
      <dgm:spPr/>
      <dgm:t>
        <a:bodyPr/>
        <a:lstStyle/>
        <a:p>
          <a:r>
            <a:rPr lang="es-ES"/>
            <a:t>CPTR: es el valor acumulado hasta el 7 de mayo, que es 16.839,00€</a:t>
          </a:r>
          <a:endParaRPr lang="en-US"/>
        </a:p>
      </dgm:t>
    </dgm:pt>
    <dgm:pt modelId="{84C469D2-6EC7-4FB0-A824-9F069DAD7B16}" type="parTrans" cxnId="{C676C425-BCCE-4915-AD30-B2D74239BA8D}">
      <dgm:prSet/>
      <dgm:spPr/>
      <dgm:t>
        <a:bodyPr/>
        <a:lstStyle/>
        <a:p>
          <a:endParaRPr lang="en-US"/>
        </a:p>
      </dgm:t>
    </dgm:pt>
    <dgm:pt modelId="{29A9A51C-48CF-4F63-94A5-E41EAED2D6A5}" type="sibTrans" cxnId="{C676C425-BCCE-4915-AD30-B2D74239BA8D}">
      <dgm:prSet/>
      <dgm:spPr/>
      <dgm:t>
        <a:bodyPr/>
        <a:lstStyle/>
        <a:p>
          <a:endParaRPr lang="en-US"/>
        </a:p>
      </dgm:t>
    </dgm:pt>
    <dgm:pt modelId="{FC39F434-90B8-419D-8B6A-886E6FA5326B}">
      <dgm:prSet/>
      <dgm:spPr/>
      <dgm:t>
        <a:bodyPr/>
        <a:lstStyle/>
        <a:p>
          <a:r>
            <a:rPr lang="es-ES"/>
            <a:t>CRTR: es el valor real del acumulado hasta el 7 de mayo, que es el mismo que el anterior.</a:t>
          </a:r>
          <a:endParaRPr lang="en-US"/>
        </a:p>
      </dgm:t>
    </dgm:pt>
    <dgm:pt modelId="{E7B94227-5666-4D0E-B57C-61085BC9A3C6}" type="parTrans" cxnId="{62AA4FF2-ADD1-441D-A0D0-56534A321C31}">
      <dgm:prSet/>
      <dgm:spPr/>
      <dgm:t>
        <a:bodyPr/>
        <a:lstStyle/>
        <a:p>
          <a:endParaRPr lang="en-US"/>
        </a:p>
      </dgm:t>
    </dgm:pt>
    <dgm:pt modelId="{1EA033E0-170C-47A3-9565-0EF0EFE5F6F1}" type="sibTrans" cxnId="{62AA4FF2-ADD1-441D-A0D0-56534A321C31}">
      <dgm:prSet/>
      <dgm:spPr/>
      <dgm:t>
        <a:bodyPr/>
        <a:lstStyle/>
        <a:p>
          <a:endParaRPr lang="en-US"/>
        </a:p>
      </dgm:t>
    </dgm:pt>
    <dgm:pt modelId="{07F8DD5B-2ED7-46E2-B89E-8F4DDE35D05F}" type="pres">
      <dgm:prSet presAssocID="{493C4C3F-FADA-4F09-A87D-C00CD3373F14}" presName="vert0" presStyleCnt="0">
        <dgm:presLayoutVars>
          <dgm:dir/>
          <dgm:animOne val="branch"/>
          <dgm:animLvl val="lvl"/>
        </dgm:presLayoutVars>
      </dgm:prSet>
      <dgm:spPr/>
    </dgm:pt>
    <dgm:pt modelId="{5D11F53E-6A93-497A-8C08-555956EEA53C}" type="pres">
      <dgm:prSet presAssocID="{74D1E583-FAD9-4D40-8BC2-19A4FB172239}" presName="thickLine" presStyleLbl="alignNode1" presStyleIdx="0" presStyleCnt="3"/>
      <dgm:spPr/>
    </dgm:pt>
    <dgm:pt modelId="{9F9BE1C9-7FAD-4212-8A60-CC1F114E3CA9}" type="pres">
      <dgm:prSet presAssocID="{74D1E583-FAD9-4D40-8BC2-19A4FB172239}" presName="horz1" presStyleCnt="0"/>
      <dgm:spPr/>
    </dgm:pt>
    <dgm:pt modelId="{ACE1B786-6F65-45A3-B193-179B0CB8F98A}" type="pres">
      <dgm:prSet presAssocID="{74D1E583-FAD9-4D40-8BC2-19A4FB172239}" presName="tx1" presStyleLbl="revTx" presStyleIdx="0" presStyleCnt="3"/>
      <dgm:spPr/>
    </dgm:pt>
    <dgm:pt modelId="{14F3A256-FC63-4B0C-9B02-1E3978A62692}" type="pres">
      <dgm:prSet presAssocID="{74D1E583-FAD9-4D40-8BC2-19A4FB172239}" presName="vert1" presStyleCnt="0"/>
      <dgm:spPr/>
    </dgm:pt>
    <dgm:pt modelId="{815CFA87-4C53-439F-93BC-19CF108A57AE}" type="pres">
      <dgm:prSet presAssocID="{F1940725-75D6-46F6-A6A0-11F7E2C333D3}" presName="thickLine" presStyleLbl="alignNode1" presStyleIdx="1" presStyleCnt="3"/>
      <dgm:spPr/>
    </dgm:pt>
    <dgm:pt modelId="{C1DCD264-11D8-42F1-BE1C-EF862B9A0079}" type="pres">
      <dgm:prSet presAssocID="{F1940725-75D6-46F6-A6A0-11F7E2C333D3}" presName="horz1" presStyleCnt="0"/>
      <dgm:spPr/>
    </dgm:pt>
    <dgm:pt modelId="{3F0DFC34-D3A2-4B86-99B1-2A7614ED834D}" type="pres">
      <dgm:prSet presAssocID="{F1940725-75D6-46F6-A6A0-11F7E2C333D3}" presName="tx1" presStyleLbl="revTx" presStyleIdx="1" presStyleCnt="3"/>
      <dgm:spPr/>
    </dgm:pt>
    <dgm:pt modelId="{FF19CAE2-6BAC-4A93-80AA-53F9F867EAC1}" type="pres">
      <dgm:prSet presAssocID="{F1940725-75D6-46F6-A6A0-11F7E2C333D3}" presName="vert1" presStyleCnt="0"/>
      <dgm:spPr/>
    </dgm:pt>
    <dgm:pt modelId="{49DD0095-65BA-4F6C-8EDF-0E39873FA10A}" type="pres">
      <dgm:prSet presAssocID="{FC39F434-90B8-419D-8B6A-886E6FA5326B}" presName="thickLine" presStyleLbl="alignNode1" presStyleIdx="2" presStyleCnt="3"/>
      <dgm:spPr/>
    </dgm:pt>
    <dgm:pt modelId="{70782AD8-4D5D-448D-B8F7-0DB8E8DACBBB}" type="pres">
      <dgm:prSet presAssocID="{FC39F434-90B8-419D-8B6A-886E6FA5326B}" presName="horz1" presStyleCnt="0"/>
      <dgm:spPr/>
    </dgm:pt>
    <dgm:pt modelId="{8526A293-BC0C-4289-AEB5-156397A36385}" type="pres">
      <dgm:prSet presAssocID="{FC39F434-90B8-419D-8B6A-886E6FA5326B}" presName="tx1" presStyleLbl="revTx" presStyleIdx="2" presStyleCnt="3"/>
      <dgm:spPr/>
    </dgm:pt>
    <dgm:pt modelId="{14F22228-717D-4C7D-8CEF-25BE18B3D990}" type="pres">
      <dgm:prSet presAssocID="{FC39F434-90B8-419D-8B6A-886E6FA5326B}" presName="vert1" presStyleCnt="0"/>
      <dgm:spPr/>
    </dgm:pt>
  </dgm:ptLst>
  <dgm:cxnLst>
    <dgm:cxn modelId="{C676C425-BCCE-4915-AD30-B2D74239BA8D}" srcId="{493C4C3F-FADA-4F09-A87D-C00CD3373F14}" destId="{F1940725-75D6-46F6-A6A0-11F7E2C333D3}" srcOrd="1" destOrd="0" parTransId="{84C469D2-6EC7-4FB0-A824-9F069DAD7B16}" sibTransId="{29A9A51C-48CF-4F63-94A5-E41EAED2D6A5}"/>
    <dgm:cxn modelId="{B5BEDA4A-5D00-4FC4-93FF-3EF3593143E2}" srcId="{493C4C3F-FADA-4F09-A87D-C00CD3373F14}" destId="{74D1E583-FAD9-4D40-8BC2-19A4FB172239}" srcOrd="0" destOrd="0" parTransId="{30895CD0-AC8D-4212-A2B7-6B295668E433}" sibTransId="{607DA0BA-8928-4B16-9513-5BBF1917C3D6}"/>
    <dgm:cxn modelId="{76844C8C-195F-49CC-A3FD-AE5DB1483DDB}" type="presOf" srcId="{493C4C3F-FADA-4F09-A87D-C00CD3373F14}" destId="{07F8DD5B-2ED7-46E2-B89E-8F4DDE35D05F}" srcOrd="0" destOrd="0" presId="urn:microsoft.com/office/officeart/2008/layout/LinedList"/>
    <dgm:cxn modelId="{E3A535BB-75C5-4B97-BD21-6A0B86C3A5B2}" type="presOf" srcId="{74D1E583-FAD9-4D40-8BC2-19A4FB172239}" destId="{ACE1B786-6F65-45A3-B193-179B0CB8F98A}" srcOrd="0" destOrd="0" presId="urn:microsoft.com/office/officeart/2008/layout/LinedList"/>
    <dgm:cxn modelId="{07EA47BD-053A-4ED7-947A-C6A1DE318B86}" type="presOf" srcId="{FC39F434-90B8-419D-8B6A-886E6FA5326B}" destId="{8526A293-BC0C-4289-AEB5-156397A36385}" srcOrd="0" destOrd="0" presId="urn:microsoft.com/office/officeart/2008/layout/LinedList"/>
    <dgm:cxn modelId="{672ABDDE-DDCC-42EE-8F13-DF10A1920523}" type="presOf" srcId="{F1940725-75D6-46F6-A6A0-11F7E2C333D3}" destId="{3F0DFC34-D3A2-4B86-99B1-2A7614ED834D}" srcOrd="0" destOrd="0" presId="urn:microsoft.com/office/officeart/2008/layout/LinedList"/>
    <dgm:cxn modelId="{62AA4FF2-ADD1-441D-A0D0-56534A321C31}" srcId="{493C4C3F-FADA-4F09-A87D-C00CD3373F14}" destId="{FC39F434-90B8-419D-8B6A-886E6FA5326B}" srcOrd="2" destOrd="0" parTransId="{E7B94227-5666-4D0E-B57C-61085BC9A3C6}" sibTransId="{1EA033E0-170C-47A3-9565-0EF0EFE5F6F1}"/>
    <dgm:cxn modelId="{D1EC6103-17CD-419C-9837-20F2DA4B618D}" type="presParOf" srcId="{07F8DD5B-2ED7-46E2-B89E-8F4DDE35D05F}" destId="{5D11F53E-6A93-497A-8C08-555956EEA53C}" srcOrd="0" destOrd="0" presId="urn:microsoft.com/office/officeart/2008/layout/LinedList"/>
    <dgm:cxn modelId="{158B8D7D-D583-4420-8F36-E3111424E214}" type="presParOf" srcId="{07F8DD5B-2ED7-46E2-B89E-8F4DDE35D05F}" destId="{9F9BE1C9-7FAD-4212-8A60-CC1F114E3CA9}" srcOrd="1" destOrd="0" presId="urn:microsoft.com/office/officeart/2008/layout/LinedList"/>
    <dgm:cxn modelId="{F86B8E3E-207F-45AB-B255-4CCAAEF1EC6B}" type="presParOf" srcId="{9F9BE1C9-7FAD-4212-8A60-CC1F114E3CA9}" destId="{ACE1B786-6F65-45A3-B193-179B0CB8F98A}" srcOrd="0" destOrd="0" presId="urn:microsoft.com/office/officeart/2008/layout/LinedList"/>
    <dgm:cxn modelId="{05E9991E-B42A-4A9A-B108-1F1E4968B657}" type="presParOf" srcId="{9F9BE1C9-7FAD-4212-8A60-CC1F114E3CA9}" destId="{14F3A256-FC63-4B0C-9B02-1E3978A62692}" srcOrd="1" destOrd="0" presId="urn:microsoft.com/office/officeart/2008/layout/LinedList"/>
    <dgm:cxn modelId="{13ECCD43-C1CD-480E-AF93-9519BEE44C55}" type="presParOf" srcId="{07F8DD5B-2ED7-46E2-B89E-8F4DDE35D05F}" destId="{815CFA87-4C53-439F-93BC-19CF108A57AE}" srcOrd="2" destOrd="0" presId="urn:microsoft.com/office/officeart/2008/layout/LinedList"/>
    <dgm:cxn modelId="{A451C418-9795-4ECB-B72A-DDB6C70C186B}" type="presParOf" srcId="{07F8DD5B-2ED7-46E2-B89E-8F4DDE35D05F}" destId="{C1DCD264-11D8-42F1-BE1C-EF862B9A0079}" srcOrd="3" destOrd="0" presId="urn:microsoft.com/office/officeart/2008/layout/LinedList"/>
    <dgm:cxn modelId="{682F268C-0876-48E2-937D-275372E6C4AD}" type="presParOf" srcId="{C1DCD264-11D8-42F1-BE1C-EF862B9A0079}" destId="{3F0DFC34-D3A2-4B86-99B1-2A7614ED834D}" srcOrd="0" destOrd="0" presId="urn:microsoft.com/office/officeart/2008/layout/LinedList"/>
    <dgm:cxn modelId="{344509B5-089C-45B2-991D-3E90ACF35B6B}" type="presParOf" srcId="{C1DCD264-11D8-42F1-BE1C-EF862B9A0079}" destId="{FF19CAE2-6BAC-4A93-80AA-53F9F867EAC1}" srcOrd="1" destOrd="0" presId="urn:microsoft.com/office/officeart/2008/layout/LinedList"/>
    <dgm:cxn modelId="{9E55BE59-25E2-4B17-8820-ADF1565D4061}" type="presParOf" srcId="{07F8DD5B-2ED7-46E2-B89E-8F4DDE35D05F}" destId="{49DD0095-65BA-4F6C-8EDF-0E39873FA10A}" srcOrd="4" destOrd="0" presId="urn:microsoft.com/office/officeart/2008/layout/LinedList"/>
    <dgm:cxn modelId="{38C935DB-600D-455C-A711-4250D6AD0080}" type="presParOf" srcId="{07F8DD5B-2ED7-46E2-B89E-8F4DDE35D05F}" destId="{70782AD8-4D5D-448D-B8F7-0DB8E8DACBBB}" srcOrd="5" destOrd="0" presId="urn:microsoft.com/office/officeart/2008/layout/LinedList"/>
    <dgm:cxn modelId="{CF3A5C62-8C37-4D0A-AA82-26D305AD955A}" type="presParOf" srcId="{70782AD8-4D5D-448D-B8F7-0DB8E8DACBBB}" destId="{8526A293-BC0C-4289-AEB5-156397A36385}" srcOrd="0" destOrd="0" presId="urn:microsoft.com/office/officeart/2008/layout/LinedList"/>
    <dgm:cxn modelId="{288157B7-C3FB-434D-89FA-545B96B67A84}" type="presParOf" srcId="{70782AD8-4D5D-448D-B8F7-0DB8E8DACBBB}" destId="{14F22228-717D-4C7D-8CEF-25BE18B3D9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1F53E-6A93-497A-8C08-555956EEA53C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1B786-6F65-45A3-B193-179B0CB8F98A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CPTP: es el valor planeado hasta el 7 de mayo, que se mantiene en 26.732,50€</a:t>
          </a:r>
          <a:endParaRPr lang="en-US" sz="3600" kern="1200"/>
        </a:p>
      </dsp:txBody>
      <dsp:txXfrm>
        <a:off x="0" y="2700"/>
        <a:ext cx="6291714" cy="1841777"/>
      </dsp:txXfrm>
    </dsp:sp>
    <dsp:sp modelId="{815CFA87-4C53-439F-93BC-19CF108A57AE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DFC34-D3A2-4B86-99B1-2A7614ED834D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CPTR: es el valor acumulado hasta el 7 de mayo, que es 16.839,00€</a:t>
          </a:r>
          <a:endParaRPr lang="en-US" sz="3600" kern="1200"/>
        </a:p>
      </dsp:txBody>
      <dsp:txXfrm>
        <a:off x="0" y="1844478"/>
        <a:ext cx="6291714" cy="1841777"/>
      </dsp:txXfrm>
    </dsp:sp>
    <dsp:sp modelId="{49DD0095-65BA-4F6C-8EDF-0E39873FA10A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6A293-BC0C-4289-AEB5-156397A36385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CRTR: es el valor real del acumulado hasta el 7 de mayo, que es el mismo que el anterior.</a:t>
          </a:r>
          <a:endParaRPr lang="en-US" sz="3600" kern="1200"/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D962A-94CF-4840-A203-8429043EA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A82BC-9B1B-4C9F-8CF1-73FA0ABC1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193394-A6EA-4C3C-B4CC-6E6D0A9D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5A1A6F-8B23-4ABD-8C1D-53D0AA1F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D6F881-D992-41B5-83BE-875CB113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062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3056E-77E9-479A-A98E-822ABBE7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38213B-F9C5-4A16-AFF7-C496320F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995FC-03ED-4721-9D08-A2FC54EB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096AC5-8BFA-4C93-94FA-D9A088CC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9EB1E-57F8-48F2-835F-A46FE8AA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3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9EE07-37F9-4618-BEEE-3EDB5A7B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6AE0EC-818A-41FF-8D80-8EE19431A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229E63-D382-4B5F-ADB5-59C43F0A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A73E4-BA72-404C-B36F-82D353F7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E85E8F-6C4E-46DE-A497-DAF65C04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356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174B3-EB10-4B68-815B-51C3AF2D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43B27F-1C28-48CE-8F4B-41632C534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4683F8-1669-45E7-BF0D-185ECE4F9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82970B-4630-428D-9FFE-48607B8B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D3CCF2-16D2-4D2B-8DB4-FEF40C7DB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77D17A-A349-4E9A-8369-D483383C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204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DA769-91B1-4445-992A-D1B09838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C374C6-EB9B-445C-BF4F-04D8DBF25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FE9EA5-C046-441A-9EF5-D9237EAC9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FF49FC-D2C0-45D5-BB25-69F079EA0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B207FE-AAB3-434A-9C50-E92134981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BE05DE-2705-410C-8FF6-2B930C65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45ADDD-B5D9-45E8-AE7B-BD4E4B28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79049F-E05D-43D9-82ED-64DD7447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425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13E1B-30A3-461E-B8FB-F219D1FE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E1B228-B618-47D3-8E91-D5E2C816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0F38D9-D89D-40CC-B213-8CB6DC25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CF14D1-522C-4413-B958-5086B0B1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135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188EC1-2C93-4B36-B0DF-BCA0F984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F510A5-0254-417E-9D7A-85E3CC20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2C58E8-47A8-4FBE-AA61-6F2965C0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83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4A564-6B27-4870-BBBC-1A43407B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66D933-C30C-4910-91FB-05F72C046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479CEF-2FEC-45FB-A161-7B0747976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811D50-F925-462D-854D-6B03DAF3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410BA1-8B30-4CF1-8E2F-631840B6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BA2969-86A6-4AAA-B8A3-E193CC63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3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5C937-CB80-4523-8593-8CA4624B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78FCC1-639F-4772-8FCC-DB1FE5A04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9592F8-164B-4A25-88D6-1881E030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25D63D-B09F-4B16-8ECD-423A544C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F0C0E1-E5D2-4821-A7A8-CC436261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FCDCFC-6036-459B-941C-1DEE755E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88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8BB5C-8C0B-4C6E-9E3C-634B5B4A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C278AB-4061-498F-80C8-DF848D32A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AE002-CF5B-4602-A81C-BF6AD29B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40DFBE-A276-4659-9CB9-D6F17BE0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29E67C-6FFB-4C5F-888E-6A56E2BE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89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C44DF6-31F0-4280-AC88-F513F79F6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A4E1A-FF30-4851-B364-2BE4019FB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CD96F-B976-42DA-9DCF-3D9527D9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675A7-7F3C-4A86-A8B5-FE6CC045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78E21E-16EA-46A1-BABE-32AF6083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50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DAFC9C-252A-42AB-8C51-F9A6721B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44E56C-3102-4204-B5B1-51D1F8140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2A6E19-C5F0-458D-A97B-F72729F9D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85B20-D002-45CB-9745-580F4A258211}" type="datetimeFigureOut">
              <a:rPr lang="es-ES" smtClean="0"/>
              <a:t>19/05/2020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1D1922-988A-4A5A-BDD6-31E984E86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E54926-5B89-45B0-ACC0-6D9FFDE42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043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86C87A-615C-486C-9C13-34AA67208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86564-67C2-495B-8D43-9A002817E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3C709E-C6BC-4BF9-AB3A-781B156D3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56D39B3-72E8-4D89-89C5-284A5A953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14E19DE-9A6A-41B8-9954-0118FE75D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1B3DAC7-2525-43F2-9EF1-A723FBACF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6B5CFD-62C2-4F94-97FF-2546303C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A9F2A0-8ED7-46EB-A7F2-3F12C59F5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DF6DA8-4C62-4A4E-95AE-4A6BFF356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4A528DA-4BF3-4110-AA0A-9A6E5545D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630936"/>
            <a:ext cx="5895058" cy="2702018"/>
          </a:xfrm>
          <a:noFill/>
        </p:spPr>
        <p:txBody>
          <a:bodyPr anchor="b">
            <a:normAutofit/>
          </a:bodyPr>
          <a:lstStyle/>
          <a:p>
            <a:pPr algn="l"/>
            <a:r>
              <a:rPr lang="es-ES" sz="4800">
                <a:solidFill>
                  <a:schemeClr val="bg1"/>
                </a:solidFill>
              </a:rPr>
              <a:t>TA2</a:t>
            </a:r>
            <a:br>
              <a:rPr lang="es-ES" sz="4800">
                <a:solidFill>
                  <a:schemeClr val="bg1"/>
                </a:solidFill>
              </a:rPr>
            </a:br>
            <a:r>
              <a:rPr lang="es-ES" sz="4800">
                <a:solidFill>
                  <a:schemeClr val="bg1"/>
                </a:solidFill>
              </a:rPr>
              <a:t>TPT: TRANSPORTE PARA TODOS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027E07-0986-46DC-8493-E44F9B593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43AF453-C795-4F05-9F20-564279904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149F39-3CA7-4C9A-BE20-85632B14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F278B23-1F7F-49E9-A832-236FD178C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A8A731-9BD2-40B3-A860-2AC971D54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A7F1D60-E0DE-49A3-BD66-572961E9A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9DCDDBA-75BF-44CA-8467-1CADC798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C618CDB-C6EB-4295-97BE-A242B7483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7CABCD-9746-4237-A3D2-7DB060045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2CF2617-4C3E-489D-ADFD-DF52D8D59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CE33576-BF18-4637-9A91-8416F01DE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DF57B30-D562-4076-B327-2C91B4E11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8C8BE08F-71DD-41AF-87CE-E79820BF1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41" y="3427487"/>
            <a:ext cx="5895058" cy="2702020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ES">
                <a:solidFill>
                  <a:schemeClr val="bg1"/>
                </a:solidFill>
              </a:rPr>
              <a:t>Alberto González Martínez</a:t>
            </a:r>
          </a:p>
          <a:p>
            <a:pPr algn="l"/>
            <a:r>
              <a:rPr lang="es-ES">
                <a:solidFill>
                  <a:schemeClr val="bg1"/>
                </a:solidFill>
              </a:rPr>
              <a:t>Javier Martín Gómez</a:t>
            </a:r>
          </a:p>
          <a:p>
            <a:pPr algn="l"/>
            <a:r>
              <a:rPr lang="es-ES">
                <a:solidFill>
                  <a:schemeClr val="bg1"/>
                </a:solidFill>
              </a:rPr>
              <a:t>Mario Adán Herrero</a:t>
            </a:r>
          </a:p>
          <a:p>
            <a:pPr algn="l"/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27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BDCA6B-3C9C-4213-A0D9-30BD5F0B0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8426302" cy="6858000"/>
          </a:xfrm>
          <a:custGeom>
            <a:avLst/>
            <a:gdLst>
              <a:gd name="connsiteX0" fmla="*/ 184095 w 8426302"/>
              <a:gd name="connsiteY0" fmla="*/ 6858000 h 6858000"/>
              <a:gd name="connsiteX1" fmla="*/ 8426302 w 8426302"/>
              <a:gd name="connsiteY1" fmla="*/ 6858000 h 6858000"/>
              <a:gd name="connsiteX2" fmla="*/ 8426302 w 8426302"/>
              <a:gd name="connsiteY2" fmla="*/ 0 h 6858000"/>
              <a:gd name="connsiteX3" fmla="*/ 2743435 w 8426302"/>
              <a:gd name="connsiteY3" fmla="*/ 0 h 6858000"/>
              <a:gd name="connsiteX4" fmla="*/ 2688451 w 8426302"/>
              <a:gd name="connsiteY4" fmla="*/ 37385 h 6858000"/>
              <a:gd name="connsiteX5" fmla="*/ 0 w 8426302"/>
              <a:gd name="connsiteY5" fmla="*/ 5321277 h 6858000"/>
              <a:gd name="connsiteX6" fmla="*/ 116943 w 8426302"/>
              <a:gd name="connsiteY6" fmla="*/ 65584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26302" h="6858000">
                <a:moveTo>
                  <a:pt x="184095" y="6858000"/>
                </a:moveTo>
                <a:lnTo>
                  <a:pt x="8426302" y="6858000"/>
                </a:lnTo>
                <a:lnTo>
                  <a:pt x="8426302" y="0"/>
                </a:lnTo>
                <a:lnTo>
                  <a:pt x="2743435" y="0"/>
                </a:lnTo>
                <a:lnTo>
                  <a:pt x="2688451" y="37385"/>
                </a:lnTo>
                <a:cubicBezTo>
                  <a:pt x="1058888" y="1225893"/>
                  <a:pt x="0" y="3149927"/>
                  <a:pt x="0" y="5321277"/>
                </a:cubicBezTo>
                <a:cubicBezTo>
                  <a:pt x="0" y="5744268"/>
                  <a:pt x="40184" y="6157873"/>
                  <a:pt x="116943" y="655848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DA12F62-867F-4684-B28B-E085D09DC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8174932" cy="6858000"/>
          </a:xfrm>
          <a:custGeom>
            <a:avLst/>
            <a:gdLst>
              <a:gd name="connsiteX0" fmla="*/ 190266 w 8174932"/>
              <a:gd name="connsiteY0" fmla="*/ 6858000 h 6858000"/>
              <a:gd name="connsiteX1" fmla="*/ 8174932 w 8174932"/>
              <a:gd name="connsiteY1" fmla="*/ 6858000 h 6858000"/>
              <a:gd name="connsiteX2" fmla="*/ 8174932 w 8174932"/>
              <a:gd name="connsiteY2" fmla="*/ 0 h 6858000"/>
              <a:gd name="connsiteX3" fmla="*/ 2944847 w 8174932"/>
              <a:gd name="connsiteY3" fmla="*/ 0 h 6858000"/>
              <a:gd name="connsiteX4" fmla="*/ 2646373 w 8174932"/>
              <a:gd name="connsiteY4" fmla="*/ 196447 h 6858000"/>
              <a:gd name="connsiteX5" fmla="*/ 0 w 8174932"/>
              <a:gd name="connsiteY5" fmla="*/ 5321277 h 6858000"/>
              <a:gd name="connsiteX6" fmla="*/ 112445 w 8174932"/>
              <a:gd name="connsiteY6" fmla="*/ 6510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74932" h="6858000">
                <a:moveTo>
                  <a:pt x="190266" y="6858000"/>
                </a:moveTo>
                <a:lnTo>
                  <a:pt x="8174932" y="6858000"/>
                </a:lnTo>
                <a:lnTo>
                  <a:pt x="8174932" y="0"/>
                </a:lnTo>
                <a:lnTo>
                  <a:pt x="2944847" y="0"/>
                </a:lnTo>
                <a:lnTo>
                  <a:pt x="2646373" y="196447"/>
                </a:lnTo>
                <a:cubicBezTo>
                  <a:pt x="1044779" y="1335395"/>
                  <a:pt x="0" y="3206327"/>
                  <a:pt x="0" y="5321277"/>
                </a:cubicBezTo>
                <a:cubicBezTo>
                  <a:pt x="0" y="5727999"/>
                  <a:pt x="38639" y="6125696"/>
                  <a:pt x="112445" y="6510898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13BA44-B8CD-4E97-8EEE-894EF228E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34110"/>
            <a:ext cx="5936370" cy="3466213"/>
          </a:xfrm>
        </p:spPr>
        <p:txBody>
          <a:bodyPr anchor="b">
            <a:normAutofit/>
          </a:bodyPr>
          <a:lstStyle/>
          <a:p>
            <a:pPr algn="l"/>
            <a:r>
              <a:rPr lang="es-ES" sz="6100">
                <a:solidFill>
                  <a:srgbClr val="FFFFFF"/>
                </a:solidFill>
              </a:rPr>
              <a:t>SEGUIMIENTO Y CONTROL DEL PROYECTO (TA2_1)</a:t>
            </a:r>
          </a:p>
        </p:txBody>
      </p:sp>
    </p:spTree>
    <p:extLst>
      <p:ext uri="{BB962C8B-B14F-4D97-AF65-F5344CB8AC3E}">
        <p14:creationId xmlns:p14="http://schemas.microsoft.com/office/powerpoint/2010/main" val="113403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4EDBA-F068-49C9-AB37-C732AC5D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027"/>
            <a:ext cx="3494362" cy="4782873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CURVAS DE CONTROL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B8FD5A-66F0-4CCD-885F-0A43DC5C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2" y="894027"/>
            <a:ext cx="6377768" cy="47828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</a:rPr>
              <a:t>Hemos considerado como fecha de referencia, el 7 de mayo de 2020. Consideramos que el proyecto se ha realizado al 100% en todo el mes de marzo y al 80% en abril. La duración se mantiene entre 6 meses y 1 año y la fecha inicial el 10 de febrero de 2020.</a:t>
            </a:r>
          </a:p>
          <a:p>
            <a:pPr marL="0" indent="0">
              <a:buNone/>
            </a:pPr>
            <a:endParaRPr lang="es-ES" sz="2400" dirty="0">
              <a:solidFill>
                <a:schemeClr val="bg1"/>
              </a:solidFill>
            </a:endParaRPr>
          </a:p>
          <a:p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74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2A86F5-034A-44EA-9A6D-4448C5EA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CURVAS DE CONTROL</a:t>
            </a:r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761DF460-9A52-4BD2-B158-FDE6089AD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50972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38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D32C7E6-EF6A-4C28-AD57-3099E01781F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" b="-1"/>
          <a:stretch/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705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F0090A-63B9-4569-B0AE-0C2F36B1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1670172-E58B-4379-8CAB-388DE8291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B5CE15D-1C77-4DD7-8BC5-6AF01261C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553C102-47CF-4055-918A-46D0A267C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E3F60C4-674D-446A-819C-71543D06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9337444-A0B9-4D1E-9583-920F517CE7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C128D67-B4DF-41F0-A694-277C26ABA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958C2F4-9139-4299-952B-22B19B67A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5"/>
            <a:ext cx="5867716" cy="3050025"/>
          </a:xfrm>
          <a:noFill/>
        </p:spPr>
        <p:txBody>
          <a:bodyPr anchor="b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VARIACIÓN DE COSTE Y DE PROGRAMA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7650C19-1BD2-44AC-B5C4-009AC84E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952890"/>
            <a:ext cx="5867720" cy="2305002"/>
          </a:xfrm>
          <a:noFill/>
        </p:spPr>
        <p:txBody>
          <a:bodyPr anchor="t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Variación del coste (VC): Se puede comprobar que el VC es 00,0€, ya que CPTR es igual que CRTR</a:t>
            </a:r>
          </a:p>
          <a:p>
            <a:r>
              <a:rPr lang="es-ES" sz="1800">
                <a:solidFill>
                  <a:schemeClr val="bg1"/>
                </a:solidFill>
              </a:rPr>
              <a:t>Variación del Programa (VP): Se puede ver que el VP es -9.8983,50€, ya que no se gastado todo el dinero que se pensaba al no haberse realizado todo el trabajo planeado.</a:t>
            </a:r>
          </a:p>
          <a:p>
            <a:endParaRPr lang="es-E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1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5F45D6-D1AE-42A7-8241-79F6B3CF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GRÁFICO DE VALORES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0259735-93DE-4375-97A9-6E5E595DA85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" r="18661" b="1"/>
          <a:stretch/>
        </p:blipFill>
        <p:spPr>
          <a:xfrm>
            <a:off x="4038600" y="1014756"/>
            <a:ext cx="7188199" cy="48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A8D7D-D1B4-4DD5-881E-4D2421C5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GANT DE SEGUIMIENTO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3E5694-10AA-4459-8354-D1B30037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3B1B4B-E971-4106-A20D-CD78CC7716E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1336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0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98404-96B1-4623-966E-879D004D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34110"/>
            <a:ext cx="5936370" cy="3466213"/>
          </a:xfrm>
        </p:spPr>
        <p:txBody>
          <a:bodyPr anchor="b">
            <a:normAutofit/>
          </a:bodyPr>
          <a:lstStyle/>
          <a:p>
            <a:pPr algn="l"/>
            <a:r>
              <a:rPr lang="es-ES" sz="5600">
                <a:solidFill>
                  <a:srgbClr val="FFFFFF"/>
                </a:solidFill>
              </a:rPr>
              <a:t>ESTIMACIÓN DE ESFUERZO Y COSTE DEL PROYECTO (TA2_2)</a:t>
            </a:r>
          </a:p>
        </p:txBody>
      </p:sp>
    </p:spTree>
    <p:extLst>
      <p:ext uri="{BB962C8B-B14F-4D97-AF65-F5344CB8AC3E}">
        <p14:creationId xmlns:p14="http://schemas.microsoft.com/office/powerpoint/2010/main" val="512498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F0090A-63B9-4569-B0AE-0C2F36B1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670172-E58B-4379-8CAB-388DE8291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5CE15D-1C77-4DD7-8BC5-6AF01261C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53C102-47CF-4055-918A-46D0A267C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3F60C4-674D-446A-819C-71543D06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337444-A0B9-4D1E-9583-920F517CE7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C128D67-B4DF-41F0-A694-277C26ABA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65A3609-15A0-449E-B6EB-6E87E754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5"/>
            <a:ext cx="5867716" cy="3050025"/>
          </a:xfrm>
          <a:noFill/>
        </p:spPr>
        <p:txBody>
          <a:bodyPr anchor="b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1. Descripción del procedimiento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60AF49-B9C9-44C0-8FDE-DF00FE63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952890"/>
            <a:ext cx="5867720" cy="2305002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s-E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En esta parte de la práctica se va a realizar lo siguiente:</a:t>
            </a: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	- Puntos de función sin ajustar</a:t>
            </a: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	- Puntos de función ajustados</a:t>
            </a: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	- Backfiring</a:t>
            </a: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	- COCOMO I/II</a:t>
            </a:r>
          </a:p>
          <a:p>
            <a:pPr marL="0" indent="0">
              <a:buNone/>
            </a:pPr>
            <a:endParaRPr lang="es-E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3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>
            <a:extLst>
              <a:ext uri="{FF2B5EF4-FFF2-40B4-BE49-F238E27FC236}">
                <a16:creationId xmlns:a16="http://schemas.microsoft.com/office/drawing/2014/main" id="{55006F82-50D2-401C-BE85-FFEA1C196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32034F32-09B4-47B4-B550-1F1CE3D53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11">
            <a:extLst>
              <a:ext uri="{FF2B5EF4-FFF2-40B4-BE49-F238E27FC236}">
                <a16:creationId xmlns:a16="http://schemas.microsoft.com/office/drawing/2014/main" id="{CF4AFB2F-2497-4DB2-A60F-E788B3F78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E2F597-9C6F-4890-ADE1-C9459FBB0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4BE1975-28BD-4B94-A991-45F2FA10F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09AA24-7378-4D52-9431-4F47FBFD8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0BF4B71-BA54-4A81-A165-941602F17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B89BB7F-D536-4D43-92E2-8DBC93C8E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026BD94-3E38-4DB6-B7D6-290987FB0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749117B-D36C-401C-B67C-9D64A087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846" y="630935"/>
            <a:ext cx="5867716" cy="3050025"/>
          </a:xfrm>
          <a:noFill/>
        </p:spPr>
        <p:txBody>
          <a:bodyPr anchor="b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2. Puntos de función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4FCECCE4-3046-4A76-B4C0-767A625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21">
            <a:extLst>
              <a:ext uri="{FF2B5EF4-FFF2-40B4-BE49-F238E27FC236}">
                <a16:creationId xmlns:a16="http://schemas.microsoft.com/office/drawing/2014/main" id="{D6F309B0-04E5-4883-9605-1364452C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1AE0B5-579B-4455-9159-4E4F0A8CC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011DD2-D339-42A2-B916-5E9494D4A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43332E-2051-4B76-BC37-83CA62919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80359C-87A2-4B25-838D-8F833616F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27">
            <a:extLst>
              <a:ext uri="{FF2B5EF4-FFF2-40B4-BE49-F238E27FC236}">
                <a16:creationId xmlns:a16="http://schemas.microsoft.com/office/drawing/2014/main" id="{B406CD4F-C9AA-49AA-AA95-9CFFE505D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29">
            <a:extLst>
              <a:ext uri="{FF2B5EF4-FFF2-40B4-BE49-F238E27FC236}">
                <a16:creationId xmlns:a16="http://schemas.microsoft.com/office/drawing/2014/main" id="{34039184-A11C-46AE-854D-8B229443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2F1956-BECA-4651-82AD-00D7D7F59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3F1C39C-42B5-430D-84F0-7018DD01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D71D2-799A-4C6D-AD0E-D7BCF15E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C9B72C0-DA11-4A2F-BADC-5BD946CFD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Marcador de contenido 2">
            <a:extLst>
              <a:ext uri="{FF2B5EF4-FFF2-40B4-BE49-F238E27FC236}">
                <a16:creationId xmlns:a16="http://schemas.microsoft.com/office/drawing/2014/main" id="{C3D12AFB-EC53-4B4C-BE64-5DB3E0CD4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8846" y="3952890"/>
            <a:ext cx="5867720" cy="2305002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s-ES" sz="11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Para esta parte se hallarán los siguientes datos: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	- Puntos de función sin ajustar: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 		* Aplicación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		* Base de datos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	- Puntos de función ajustados: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		* Aplicación</a:t>
            </a:r>
          </a:p>
          <a:p>
            <a:pPr marL="0" indent="0">
              <a:buNone/>
            </a:pPr>
            <a:r>
              <a:rPr lang="es-ES" sz="1100">
                <a:solidFill>
                  <a:schemeClr val="bg1"/>
                </a:solidFill>
              </a:rPr>
              <a:t>		*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72480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7EE1F-CDA7-41C5-A029-3082E00E5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209" y="0"/>
            <a:ext cx="8534400" cy="1507067"/>
          </a:xfrm>
        </p:spPr>
        <p:txBody>
          <a:bodyPr/>
          <a:lstStyle/>
          <a:p>
            <a:r>
              <a:rPr lang="es-ES" dirty="0"/>
              <a:t>2.1 Puntos de función sin ajustar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55B4F6-48A9-4CE0-93FD-E2D7B28FD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2" y="1134518"/>
            <a:ext cx="8595360" cy="4351337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           </a:t>
            </a:r>
            <a:r>
              <a:rPr lang="es-ES" u="sng" dirty="0"/>
              <a:t>Aplicación</a:t>
            </a:r>
            <a:r>
              <a:rPr lang="es-ES" dirty="0"/>
              <a:t>                                                </a:t>
            </a:r>
            <a:r>
              <a:rPr lang="es-ES" u="sng" dirty="0"/>
              <a:t>Base de datos</a:t>
            </a:r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endParaRPr lang="es-ES" u="sng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023510-C49C-4B79-A08D-9DBB53B69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07" y="1946505"/>
            <a:ext cx="4539365" cy="15821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B97561-6726-47D6-99FE-C162FFE4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1930165"/>
            <a:ext cx="4138612" cy="11936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7D0A3D-F702-439F-A91D-3CB987717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07" y="3979328"/>
            <a:ext cx="4539365" cy="12811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029810-52B9-4B9F-8C97-06C544BCD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4062096"/>
            <a:ext cx="4138612" cy="128116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93039B5-94A7-4C09-8630-EFB3CBF280A9}"/>
              </a:ext>
            </a:extLst>
          </p:cNvPr>
          <p:cNvSpPr txBox="1"/>
          <p:nvPr/>
        </p:nvSpPr>
        <p:spPr>
          <a:xfrm>
            <a:off x="1372999" y="5711216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PF = 57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9FE11B-1F33-4330-A69E-F256042D61BA}"/>
              </a:ext>
            </a:extLst>
          </p:cNvPr>
          <p:cNvSpPr txBox="1"/>
          <p:nvPr/>
        </p:nvSpPr>
        <p:spPr>
          <a:xfrm>
            <a:off x="6822281" y="5660462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PF = 70</a:t>
            </a:r>
          </a:p>
        </p:txBody>
      </p:sp>
    </p:spTree>
    <p:extLst>
      <p:ext uri="{BB962C8B-B14F-4D97-AF65-F5344CB8AC3E}">
        <p14:creationId xmlns:p14="http://schemas.microsoft.com/office/powerpoint/2010/main" val="25161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8D4EA-7A24-46F7-B57A-5854E951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r>
              <a:rPr lang="es-ES" dirty="0"/>
              <a:t>2.2 Puntos de función ajustados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2DCEE5-6152-4EC1-B138-396C774DE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878" y="1289599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              </a:t>
            </a:r>
            <a:r>
              <a:rPr lang="es-ES" u="sng" dirty="0"/>
              <a:t>Aplicación</a:t>
            </a:r>
            <a:r>
              <a:rPr lang="es-ES" dirty="0"/>
              <a:t>                                             </a:t>
            </a:r>
            <a:r>
              <a:rPr lang="es-ES" u="sng" dirty="0"/>
              <a:t>Base de datos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94A33F-8C11-4CC7-8B52-7E1381FB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71610"/>
            <a:ext cx="3662299" cy="25729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7E2096-9466-4359-99D5-47EDEB85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823" y="2471610"/>
            <a:ext cx="3662299" cy="256464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55E78C-D38F-4F54-8B9E-225B6F108296}"/>
              </a:ext>
            </a:extLst>
          </p:cNvPr>
          <p:cNvSpPr txBox="1"/>
          <p:nvPr/>
        </p:nvSpPr>
        <p:spPr>
          <a:xfrm>
            <a:off x="1828800" y="5045690"/>
            <a:ext cx="3365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PFA = PFSA * [0.65+(0.01*ACT)]</a:t>
            </a:r>
          </a:p>
          <a:p>
            <a:r>
              <a:rPr lang="es-ES" sz="1400" dirty="0"/>
              <a:t>PFA = 57 * [0.65+0.01*33] = 55.86</a:t>
            </a:r>
          </a:p>
          <a:p>
            <a:endParaRPr lang="es-ES" sz="1400" dirty="0"/>
          </a:p>
          <a:p>
            <a:pPr algn="ctr"/>
            <a:r>
              <a:rPr lang="es-ES" sz="1400" dirty="0"/>
              <a:t>PFA = 56</a:t>
            </a:r>
          </a:p>
          <a:p>
            <a:endParaRPr lang="es-ES" sz="1400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5E27FD-516B-446B-8395-E8EF288393E5}"/>
              </a:ext>
            </a:extLst>
          </p:cNvPr>
          <p:cNvSpPr txBox="1"/>
          <p:nvPr/>
        </p:nvSpPr>
        <p:spPr>
          <a:xfrm>
            <a:off x="6907823" y="5045690"/>
            <a:ext cx="3365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PFA = PFSA * [0.65+(0.01*ACT)]</a:t>
            </a:r>
          </a:p>
          <a:p>
            <a:r>
              <a:rPr lang="es-ES" sz="1400" dirty="0"/>
              <a:t>PFA = 70 * [0.65+0.01*35] = 69,3</a:t>
            </a:r>
          </a:p>
          <a:p>
            <a:endParaRPr lang="es-ES" sz="1400" dirty="0"/>
          </a:p>
          <a:p>
            <a:pPr algn="ctr"/>
            <a:r>
              <a:rPr lang="es-ES" sz="1400" dirty="0"/>
              <a:t>PFA = 69</a:t>
            </a:r>
          </a:p>
          <a:p>
            <a:endParaRPr lang="es-ES" sz="14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329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F0090A-63B9-4569-B0AE-0C2F36B1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670172-E58B-4379-8CAB-388DE8291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5CE15D-1C77-4DD7-8BC5-6AF01261C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53C102-47CF-4055-918A-46D0A267C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3F60C4-674D-446A-819C-71543D06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337444-A0B9-4D1E-9583-920F517CE7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C128D67-B4DF-41F0-A694-277C26ABA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83757FD-0F22-449F-B554-28822586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5"/>
            <a:ext cx="5867716" cy="3050025"/>
          </a:xfrm>
          <a:noFill/>
        </p:spPr>
        <p:txBody>
          <a:bodyPr anchor="b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3. Backfiring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B773F0-526B-436D-9AEE-DF4371C1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952890"/>
            <a:ext cx="5867720" cy="2305002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br>
              <a:rPr lang="es-ES" sz="1300">
                <a:solidFill>
                  <a:schemeClr val="bg1"/>
                </a:solidFill>
              </a:rPr>
            </a:br>
            <a:r>
              <a:rPr lang="es-ES" sz="1300">
                <a:solidFill>
                  <a:schemeClr val="bg1"/>
                </a:solidFill>
              </a:rPr>
              <a:t>Se empleará el método backfiring para determinar los siguientes datos: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- Aplicación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	*Duración estimada 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	*Líneas de código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- Base de datos 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	*Duración estimada </a:t>
            </a:r>
          </a:p>
          <a:p>
            <a:pPr marL="0" indent="0">
              <a:buNone/>
            </a:pPr>
            <a:r>
              <a:rPr lang="es-ES" sz="1300">
                <a:solidFill>
                  <a:schemeClr val="bg1"/>
                </a:solidFill>
              </a:rPr>
              <a:t>		*Líneas de código</a:t>
            </a:r>
          </a:p>
          <a:p>
            <a:pPr marL="0" indent="0">
              <a:buNone/>
            </a:pPr>
            <a:endParaRPr lang="es-E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162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C49DF-9DBF-475F-AB0B-AE5DA66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597" y="118557"/>
            <a:ext cx="8534400" cy="1507067"/>
          </a:xfrm>
        </p:spPr>
        <p:txBody>
          <a:bodyPr/>
          <a:lstStyle/>
          <a:p>
            <a:r>
              <a:rPr lang="es-ES"/>
              <a:t>3.1 Aplicación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803839-0741-467C-BC97-21E8605A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597" y="1016131"/>
            <a:ext cx="8534400" cy="3615267"/>
          </a:xfrm>
        </p:spPr>
        <p:txBody>
          <a:bodyPr/>
          <a:lstStyle/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r>
              <a:rPr lang="es-ES"/>
              <a:t>La aplicación será codificada en JavaScript y CSS, lenguajes 3GL: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24925A-14FC-432B-857A-8ACFF32FB4F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81" y="2531898"/>
            <a:ext cx="5400040" cy="14497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FAF079-7091-47EB-A10E-626C1131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81" y="5232274"/>
            <a:ext cx="4058216" cy="72400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B82B25E-9CFD-40DA-A66B-8177AECCBBD5}"/>
              </a:ext>
            </a:extLst>
          </p:cNvPr>
          <p:cNvSpPr txBox="1"/>
          <p:nvPr/>
        </p:nvSpPr>
        <p:spPr>
          <a:xfrm>
            <a:off x="5763490" y="5281193"/>
            <a:ext cx="4350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/>
              <a:t>Como tenemos 4 programadores y con una estimación de 5,5h diarias el proyecto durará: 1680H / (5,5H*4) = </a:t>
            </a:r>
            <a:r>
              <a:rPr lang="es-ES" sz="1400" b="1"/>
              <a:t>76,4 días</a:t>
            </a:r>
            <a:endParaRPr lang="es-ES" sz="14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24DF52-7908-439D-AB30-EE8AB1ABA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581" y="4287084"/>
            <a:ext cx="5271200" cy="63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94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318E1-F1D7-48A2-83A4-7E01114B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338" y="226520"/>
            <a:ext cx="8534400" cy="1507067"/>
          </a:xfrm>
        </p:spPr>
        <p:txBody>
          <a:bodyPr/>
          <a:lstStyle/>
          <a:p>
            <a:r>
              <a:rPr lang="es-ES" dirty="0"/>
              <a:t>3.2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5827C-80E0-440C-94E9-C6DE57F2F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379" y="1142836"/>
            <a:ext cx="8534400" cy="3615267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base de datos utilizará SQL, que es un lenguaje 4GL: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A73739-D469-4462-AEBA-CF888C4E918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625" y="2557071"/>
            <a:ext cx="5400040" cy="14497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A04EC2-5E51-490A-8592-A702B3C0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625" y="4167351"/>
            <a:ext cx="5271200" cy="6397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6AFBBA-D2C3-491E-A750-C69D5D59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625" y="5096422"/>
            <a:ext cx="3886742" cy="7049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53B68EE-8314-4D28-BD85-C2111B203F57}"/>
              </a:ext>
            </a:extLst>
          </p:cNvPr>
          <p:cNvSpPr txBox="1"/>
          <p:nvPr/>
        </p:nvSpPr>
        <p:spPr>
          <a:xfrm>
            <a:off x="5763490" y="5281193"/>
            <a:ext cx="4350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Como tenemos 4 programadores y con una estimación de 5,5h diarias el proyecto durará: 350H / (5,5H*4) = </a:t>
            </a:r>
            <a:r>
              <a:rPr lang="es-ES" sz="1400" b="1" dirty="0"/>
              <a:t>15,9 días</a:t>
            </a:r>
          </a:p>
        </p:txBody>
      </p:sp>
    </p:spTree>
    <p:extLst>
      <p:ext uri="{BB962C8B-B14F-4D97-AF65-F5344CB8AC3E}">
        <p14:creationId xmlns:p14="http://schemas.microsoft.com/office/powerpoint/2010/main" val="116471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DA65A-58CA-4B4C-9319-D5E5F331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750" y="211668"/>
            <a:ext cx="8534400" cy="1507067"/>
          </a:xfrm>
        </p:spPr>
        <p:txBody>
          <a:bodyPr/>
          <a:lstStyle/>
          <a:p>
            <a:r>
              <a:rPr lang="es-ES" dirty="0"/>
              <a:t>3.3 Estimación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05E315-26CB-4795-80AA-C3CF0E81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649" y="685800"/>
            <a:ext cx="8534400" cy="3615267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Una vez calculadas las líneas de código de la base de datos y la aplicación, tenemos una estimación inicial: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10771A-DAEA-41F3-A1D7-E9969960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49" y="3711094"/>
            <a:ext cx="7534327" cy="11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09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7B6FF-E6E0-4296-9280-7C5E1C5A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138" y="172784"/>
            <a:ext cx="8534400" cy="1507067"/>
          </a:xfrm>
        </p:spPr>
        <p:txBody>
          <a:bodyPr>
            <a:normAutofit/>
          </a:bodyPr>
          <a:lstStyle/>
          <a:p>
            <a:r>
              <a:rPr lang="es-ES" dirty="0"/>
              <a:t>4. COCOMO I/II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36FB2-33E8-47B1-B2C7-814248F2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138" y="1955306"/>
            <a:ext cx="8534400" cy="36152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Con la técnica COCOMO, podremos hallar una estimación más cercana de </a:t>
            </a:r>
            <a:r>
              <a:rPr lang="es-ES" dirty="0" err="1"/>
              <a:t>de</a:t>
            </a:r>
            <a:r>
              <a:rPr lang="es-ES" dirty="0"/>
              <a:t> los datos de:</a:t>
            </a:r>
          </a:p>
          <a:p>
            <a:pPr marL="0" indent="0">
              <a:buNone/>
            </a:pPr>
            <a:r>
              <a:rPr lang="es-ES" dirty="0"/>
              <a:t>	- Aplicación</a:t>
            </a:r>
          </a:p>
          <a:p>
            <a:pPr marL="0" indent="0">
              <a:buNone/>
            </a:pPr>
            <a:r>
              <a:rPr lang="es-ES" dirty="0"/>
              <a:t>		* Esfuerzo</a:t>
            </a:r>
          </a:p>
          <a:p>
            <a:pPr marL="0" indent="0">
              <a:buNone/>
            </a:pPr>
            <a:r>
              <a:rPr lang="es-ES" dirty="0"/>
              <a:t>		* Duración</a:t>
            </a:r>
          </a:p>
          <a:p>
            <a:pPr marL="0" indent="0">
              <a:buNone/>
            </a:pPr>
            <a:r>
              <a:rPr lang="es-ES" dirty="0"/>
              <a:t>		* Personal medio y productividad</a:t>
            </a:r>
          </a:p>
          <a:p>
            <a:pPr marL="0" indent="0">
              <a:buNone/>
            </a:pPr>
            <a:r>
              <a:rPr lang="es-ES" dirty="0"/>
              <a:t>	- Base de datos</a:t>
            </a:r>
          </a:p>
          <a:p>
            <a:pPr marL="0" indent="0">
              <a:buNone/>
            </a:pPr>
            <a:r>
              <a:rPr lang="es-ES" dirty="0"/>
              <a:t>		* Esfuerzo</a:t>
            </a:r>
          </a:p>
          <a:p>
            <a:pPr marL="0" indent="0">
              <a:buNone/>
            </a:pPr>
            <a:r>
              <a:rPr lang="es-ES" dirty="0"/>
              <a:t>		* Duración</a:t>
            </a:r>
          </a:p>
          <a:p>
            <a:pPr marL="0" indent="0">
              <a:buNone/>
            </a:pPr>
            <a:r>
              <a:rPr lang="es-ES" dirty="0"/>
              <a:t>		* Personal medio y productividad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460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0D20E-6D50-43B6-A955-21510EE4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521" y="243806"/>
            <a:ext cx="8534400" cy="1507067"/>
          </a:xfrm>
        </p:spPr>
        <p:txBody>
          <a:bodyPr/>
          <a:lstStyle/>
          <a:p>
            <a:r>
              <a:rPr lang="es-ES" dirty="0"/>
              <a:t>4.1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2E93A5-5E73-41E3-A172-16C95894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521" y="703555"/>
            <a:ext cx="8534400" cy="3615267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muestra la tabla de cálculo de la estimación de la aplicación: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56354B-25FC-4875-8697-E72BE7F2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64" y="3429000"/>
            <a:ext cx="9045663" cy="159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17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A6434-83B5-409A-80D3-3EF5FC0B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66" y="155029"/>
            <a:ext cx="8534400" cy="1507067"/>
          </a:xfrm>
        </p:spPr>
        <p:txBody>
          <a:bodyPr/>
          <a:lstStyle/>
          <a:p>
            <a:r>
              <a:rPr lang="es-ES" dirty="0"/>
              <a:t>4.2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E34885-DB0A-42C3-979D-4694C7AE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 continuación, se muestra la tabla de cálculo de la estimación de la base de datos: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141234-5219-477A-A42C-0F4BA096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41" y="3341898"/>
            <a:ext cx="9270735" cy="169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15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11E69-CAEB-4185-B481-1FC8638E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56" y="297071"/>
            <a:ext cx="8534400" cy="1507067"/>
          </a:xfrm>
        </p:spPr>
        <p:txBody>
          <a:bodyPr/>
          <a:lstStyle/>
          <a:p>
            <a:r>
              <a:rPr lang="es-ES" dirty="0"/>
              <a:t>5. Esfuerzo y estimación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E949C6-C988-48B2-A7BD-9AF580E8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siguiente tabla resume todos los datos calculados anteriormente, en donde vemos puntos de función, LOC, esfuerzo…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E31619-03AB-45D1-9B46-94CA65A4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56" y="3429000"/>
            <a:ext cx="10327660" cy="7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69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CE5A8-890C-4E1A-9F20-6C0AD3D1C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053" y="75130"/>
            <a:ext cx="8534400" cy="1507067"/>
          </a:xfrm>
        </p:spPr>
        <p:txBody>
          <a:bodyPr/>
          <a:lstStyle/>
          <a:p>
            <a:r>
              <a:rPr lang="es-ES" dirty="0"/>
              <a:t>6.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055F9-35BF-4DC2-97D2-7FD89F489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053" y="1582197"/>
            <a:ext cx="8534400" cy="3615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Finalmente, podemos concluir:</a:t>
            </a:r>
          </a:p>
          <a:p>
            <a:pPr marL="360363" indent="-360363">
              <a:buNone/>
            </a:pPr>
            <a:r>
              <a:rPr lang="es-ES" dirty="0"/>
              <a:t>		- La estimación de la duración del proyecto, respecto a la primera 	entrega es menor lo que se debe a la gran experiencia de nuestros 	programadores.</a:t>
            </a:r>
          </a:p>
          <a:p>
            <a:pPr marL="0" indent="0">
              <a:buNone/>
            </a:pPr>
            <a:r>
              <a:rPr lang="es-ES" dirty="0"/>
              <a:t>	- PF </a:t>
            </a:r>
            <a:r>
              <a:rPr lang="es-ES" dirty="0">
                <a:sym typeface="Wingdings" panose="05000000000000000000" pitchFamily="2" charset="2"/>
              </a:rPr>
              <a:t> Aplicación 57; Base de datos 70 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PFA </a:t>
            </a:r>
            <a:r>
              <a:rPr lang="es-ES" dirty="0">
                <a:sym typeface="Wingdings" panose="05000000000000000000" pitchFamily="2" charset="2"/>
              </a:rPr>
              <a:t> Aplicación 56; Base de datos 69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</a:t>
            </a:r>
            <a:r>
              <a:rPr lang="es-ES" dirty="0" err="1"/>
              <a:t>Backfiring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Líneas código 14.000; Duración 92,3 días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- COCOMO </a:t>
            </a:r>
            <a:r>
              <a:rPr lang="es-ES" dirty="0">
                <a:sym typeface="Wingdings" panose="05000000000000000000" pitchFamily="2" charset="2"/>
              </a:rPr>
              <a:t> Duración 6,9 meses; 2,06 hombres/mes;             			           Productividad 1096,72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7328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Panorámica</PresentationFormat>
  <Paragraphs>97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TA2 TPT: TRANSPORTE PARA TODOS</vt:lpstr>
      <vt:lpstr>SEGUIMIENTO Y CONTROL DEL PROYECTO (TA2_1)</vt:lpstr>
      <vt:lpstr>CURVAS DE CONTROL</vt:lpstr>
      <vt:lpstr>CURVAS DE CONTROL</vt:lpstr>
      <vt:lpstr>Presentación de PowerPoint</vt:lpstr>
      <vt:lpstr>VARIACIÓN DE COSTE Y DE PROGRAMA</vt:lpstr>
      <vt:lpstr>GRÁFICO DE VALORES</vt:lpstr>
      <vt:lpstr>GANT DE SEGUIMIENTO</vt:lpstr>
      <vt:lpstr>ESTIMACIÓN DE ESFUERZO Y COSTE DEL PROYECTO (TA2_2)</vt:lpstr>
      <vt:lpstr>1. Descripción del procedimiento</vt:lpstr>
      <vt:lpstr>2. Puntos de función</vt:lpstr>
      <vt:lpstr>2.1 Puntos de función sin ajustar</vt:lpstr>
      <vt:lpstr>2.2 Puntos de función ajustados</vt:lpstr>
      <vt:lpstr>3. Backfiring</vt:lpstr>
      <vt:lpstr>3.1 Aplicación</vt:lpstr>
      <vt:lpstr>3.2 Base de datos</vt:lpstr>
      <vt:lpstr>3.3 Estimación final</vt:lpstr>
      <vt:lpstr>4. COCOMO I/II</vt:lpstr>
      <vt:lpstr>4.1 Aplicación</vt:lpstr>
      <vt:lpstr>4.2 Base de datos</vt:lpstr>
      <vt:lpstr>5. Esfuerzo y estimación del proyecto</vt:lpstr>
      <vt:lpstr>6.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TA2 TPT: TRANSPORTE PARA TODOS</dc:title>
  <dc:creator>Javier Martin</dc:creator>
  <cp:lastModifiedBy>Javier Martin</cp:lastModifiedBy>
  <cp:revision>1</cp:revision>
  <dcterms:created xsi:type="dcterms:W3CDTF">2020-05-19T15:48:20Z</dcterms:created>
  <dcterms:modified xsi:type="dcterms:W3CDTF">2020-05-19T15:49:29Z</dcterms:modified>
</cp:coreProperties>
</file>